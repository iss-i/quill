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E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>
                <a:solidFill>
                  <a:srgbClr val="1D242B"/>
                </a:solidFill>
                <a:latin typeface="Segoe UI"/>
              </a:rPr>
              <a:t>EBR Tooling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F6B76"/>
                </a:solidFill>
                <a:latin typeface="Segoe UI"/>
              </a:rPr>
              <a:t>How we get from a paper batch record to a verified electronic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1D242B"/>
                </a:solidFill>
                <a:latin typeface="Segoe UI"/>
              </a:rPr>
              <a:t>Three tools, one pipeline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1.  Batch Record Scanning  —  read the paper record, design the electronic steps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2.  Functional / Technical Spec Build  —  turn each step into a build-ready design spec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3.  EBR Puppeteer  —  drive the live EBR app to explore and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F6B76"/>
                </a:solidFill>
                <a:latin typeface="Segoe UI"/>
              </a:rPr>
              <a:t>Tool + method overview — no client, product or system specifics.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One pipeline, three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31720" cy="21031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D242B"/>
                </a:solidFill>
                <a:latin typeface="Segoe UI"/>
              </a:rPr>
              <a:t>Paper batch record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The client's manufacturing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directions / MPR.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Prose, tables, sign-offs.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99232" y="2743200"/>
            <a:ext cx="384048" cy="274320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331720" cy="210312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1 · Scanning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Identify each step,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reuse vs new,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draw the mock-ups.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→ mock-ups + EBR sheet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71032" y="2743200"/>
            <a:ext cx="384048" cy="274320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2331720" cy="210312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2 · Spec build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13-section design spec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incl. function modules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+ pseudocode.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→ build-ready .docx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42832" y="2743200"/>
            <a:ext cx="384048" cy="274320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1828800"/>
            <a:ext cx="2194560" cy="2103120"/>
          </a:xfrm>
          <a:prstGeom prst="roundRect">
            <a:avLst/>
          </a:prstGeom>
          <a:solidFill>
            <a:srgbClr val="E8F1F6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7C9C"/>
                </a:solidFill>
                <a:latin typeface="Segoe UI"/>
              </a:rPr>
              <a:t>3 · Puppeteer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Drive the built step in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the live EBR app.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→ explored /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D242B"/>
                </a:solidFill>
                <a:latin typeface="Segoe UI"/>
              </a:rPr>
              <a:t>Why it's one pipeline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Each stage produces the input the next stage needs — the mock-up is the spec's picture, the spec is the builder's instruction, Puppeteer proves the result.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Everything is written down in build guides, so the output is consistent regardless of who does the work.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Reuse is the default at every stage — we assemble from a library far more often than we invent.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TOOL 1 · PAPER → DESIGNED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Batch Record Scanning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Read the batch record end to end and identify what each section actually captures.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Data vs instruction — does it record values, or just tell the operator to act?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Recurring patterns — sampling, weighing, timers, sign-offs repeat everywhere.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Decide reuse vs new against the existing step library.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Most steps already exist — reuse beats rebuilding.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Only genuinely new behaviour becomes a new step.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Draw a mock-up per step in one of three formats.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Table · Form · Long-text instruction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239512" cy="214884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What comes out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One mock-up image per step — the visual contract for the build.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An assembled EBR / PI-sheet: the new electronic record, end to end.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A crosswalk mapping every step back to its batch-record section.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40480"/>
            <a:ext cx="5239512" cy="201168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D242B"/>
                </a:solidFill>
                <a:latin typeface="Segoe UI"/>
              </a:rPr>
              <a:t>Why it matters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The client can compare new vs old side by side, section by section.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Gaps get caught on paper — before anyone builds anything.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Reuse decisions are made once, up front.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TOOL 1 · HOW WE KEEP IT CONSISTENT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Scanning: the method is written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6B76"/>
                </a:solidFill>
                <a:latin typeface="Segoe UI"/>
              </a:rPr>
              <a:t>A build guide encodes the rules so two people scanning the same record land in the same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66160" cy="182880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Recognition cues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Read the paper and know what it is: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a value + a range → a checked entry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a blank + a signature → a record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'per SOP…' with no data → instruction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2057400"/>
            <a:ext cx="3566160" cy="182880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Hard rules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Learned the hard way: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one signature per table line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times are stamped, never typed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computed fields are read-only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057400"/>
            <a:ext cx="3557016" cy="182880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Reuse library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The recurring blocks: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signatures, equipment, materials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sampling, calculations, timers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long-text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D242B"/>
                </a:solidFill>
                <a:latin typeface="Segoe UI"/>
              </a:rPr>
              <a:t>The judgement calls the guide exists to settle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Is this one step or three?  Split where the sign-off boundary is — one perform/verify pair = one step.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Does the format follow the label or the data?  The data. A calculation is a form when it's one record, a table when it repeats.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A name match is a candidate, not a fit — we open the existing step and check it actually covers the requirement.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TOOL 2 · MOCK-UP → BUILD-READY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Functional / Technical Spec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Every step gets one design specification, in a fixed 13-section template.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Purpose, overview, assumptions, validation checks, layout…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…then the two technical sections that matter most.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Function Module(s) + Pseudocode — the part clients' docs usually lack.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We design the FM set from the mock-up's controls.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Then confirm each one against the real system.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The mock-up image is embedded in the spec — developers build to the picture.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5148072" cy="2286000"/>
          </a:xfrm>
          <a:prstGeom prst="roundRect">
            <a:avLst/>
          </a:prstGeom>
          <a:solidFill>
            <a:srgbClr val="E8F1F6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7C9C"/>
                </a:solidFill>
                <a:latin typeface="Segoe UI"/>
              </a:rPr>
              <a:t>The core discipline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Reuse an existing function first;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author a new one only when nothing fits.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And when nothing fits — say so in the spec,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rather than forcing a bad 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977639"/>
            <a:ext cx="5148072" cy="1874519"/>
          </a:xfrm>
          <a:prstGeom prst="roundRect">
            <a:avLst/>
          </a:prstGeom>
          <a:solidFill>
            <a:srgbClr val="FDF6E7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26A00"/>
                </a:solidFill>
                <a:latin typeface="Segoe UI"/>
              </a:rPr>
              <a:t>⭐ The lesson that saves rework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 name match — or even a pattern match 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is a candidate, not a fit.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Open the real interface and check its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parameters against the step's actual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TOOL 2 · HOW THE TECHNICAL SET IS DESIGNED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Spec build: from controls to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6B76"/>
                </a:solidFill>
                <a:latin typeface="Segoe UI"/>
              </a:rPr>
              <a:t>We read the mock-up's controls and map each to the behaviour it implies: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91672" cy="566928"/>
          </a:xfrm>
          <a:prstGeom prst="rect">
            <a:avLst/>
          </a:prstGeom>
          <a:solidFill>
            <a:srgbClr val="F7F8F9"/>
          </a:solidFill>
          <a:ln w="6350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D242B"/>
                </a:solidFill>
                <a:latin typeface="Segoe UI"/>
              </a:rPr>
              <a:t>A ▶ Record button stamping a date/time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2148840"/>
            <a:ext cx="320040" cy="201168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8483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Segoe UI"/>
              </a:rPr>
              <a:t>a system-time function — never a typed 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87752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D242B"/>
                </a:solidFill>
                <a:latin typeface="Segoe UI"/>
              </a:rPr>
              <a:t>A numeric field with a min–max range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770632"/>
            <a:ext cx="320040" cy="201168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066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Segoe UI"/>
              </a:rPr>
              <a:t>a range validator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9544"/>
            <a:ext cx="11091672" cy="566928"/>
          </a:xfrm>
          <a:prstGeom prst="rect">
            <a:avLst/>
          </a:prstGeom>
          <a:solidFill>
            <a:srgbClr val="F7F8F9"/>
          </a:solidFill>
          <a:ln w="6350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D242B"/>
                </a:solidFill>
                <a:latin typeface="Segoe UI"/>
              </a:rPr>
              <a:t>An entry that fills a read-only field beside 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3392424"/>
            <a:ext cx="320040" cy="201168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284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Segoe UI"/>
              </a:rPr>
              <a:t>an input validation on the entry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31336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D242B"/>
                </a:solidFill>
                <a:latin typeface="Segoe UI"/>
              </a:rPr>
              <a:t>A repeating table with + Add Row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43600" y="4014216"/>
            <a:ext cx="320040" cy="201168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502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Segoe UI"/>
              </a:rPr>
              <a:t>a row indexer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53128"/>
            <a:ext cx="11091672" cy="566928"/>
          </a:xfrm>
          <a:prstGeom prst="rect">
            <a:avLst/>
          </a:prstGeom>
          <a:solidFill>
            <a:srgbClr val="F7F8F9"/>
          </a:solidFill>
          <a:ln w="6350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D242B"/>
                </a:solidFill>
                <a:latin typeface="Segoe UI"/>
              </a:rPr>
              <a:t>A per-row signature / a footer sign-off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3600" y="4636008"/>
            <a:ext cx="320040" cy="201168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Segoe UI"/>
              </a:rPr>
              <a:t>signature + audit functions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93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D242B"/>
                </a:solidFill>
                <a:latin typeface="Segoe UI"/>
              </a:rPr>
              <a:t>A material line that consumes stock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43600" y="5257800"/>
            <a:ext cx="320040" cy="201168"/>
          </a:xfrm>
          <a:prstGeom prst="rightArrow">
            <a:avLst/>
          </a:prstGeom>
          <a:solidFill>
            <a:srgbClr val="B6B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1937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Segoe UI"/>
              </a:rPr>
              <a:t>a goods-issue process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F6D2F"/>
                </a:solidFill>
                <a:latin typeface="Segoe UI"/>
              </a:rPr>
              <a:t>Then every candidate is verified against the live system before it goes in the spec.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TOOL 3 · DRIVING THE LIVE EBR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EBR Puppeteer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A browser-automation harness that drives the EBR app the way an operator would.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Launch + log in + navigate to a recipe, and stay open.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Then attach to that same session to explore or drive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Three modes: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probe / drive — click, type, read, set a cell, sign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eval — run a query inside the sheet and get structured data back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242B"/>
                </a:solidFill>
                <a:latin typeface="Segoe UI"/>
              </a:rPr>
              <a:t>• The workhorse is eval: inspect and measure the real sheet.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– Screenshots are the exception, not the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5148072" cy="2148840"/>
          </a:xfrm>
          <a:prstGeom prst="roundRect">
            <a:avLst/>
          </a:prstGeom>
          <a:solidFill>
            <a:srgbClr val="E8F1F6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7C9C"/>
                </a:solidFill>
                <a:latin typeface="Segoe UI"/>
              </a:rPr>
              <a:t>Why we need 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The built step is only 'done' when it behaves correctly in the real app.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Manual click-through doesn't scale and isn't repeatable.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It tells us what the app actually does — not what we assumed.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840480"/>
            <a:ext cx="5148072" cy="201168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D242B"/>
                </a:solidFill>
                <a:latin typeface="Segoe UI"/>
              </a:rPr>
              <a:t>What it gives back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Confirms field labels, formats and validation behaviour.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Surfaces mismatches between the spec/mock-up and reality.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• Turns 'it should work' into 'we drove it'.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TOOL 3 · THE REALITIES OF THE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Puppeteer: why it's harder than it looks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6B76"/>
                </a:solidFill>
                <a:latin typeface="Segoe UI"/>
              </a:rPr>
              <a:t>The recipe sheet is legacy framework HTML inside an iframe — not a clean modern UI. That shapes everything: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66160" cy="2395728"/>
          </a:xfrm>
          <a:prstGeom prst="roundRect">
            <a:avLst/>
          </a:prstGeom>
          <a:solidFill>
            <a:srgbClr val="FDF6E7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26A00"/>
                </a:solidFill>
                <a:latin typeface="Segoe UI"/>
              </a:rPr>
              <a:t>Fields have no names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Inputs share one id — no label,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no placeholder, nothing to query.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So we locate by GEOMETRY: find the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header's position, then the input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beneath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2011680"/>
            <a:ext cx="3566160" cy="2395728"/>
          </a:xfrm>
          <a:prstGeom prst="roundRect">
            <a:avLst/>
          </a:prstGeom>
          <a:solidFill>
            <a:srgbClr val="FDF6E7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26A00"/>
                </a:solidFill>
                <a:latin typeface="Segoe UI"/>
              </a:rPr>
              <a:t>Enter commits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 value doesn't register until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Enter is pressed — dropdowns too.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 committed number visibly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reformats; if it didn't reformat,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it didn't commit.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011680"/>
            <a:ext cx="3557016" cy="2395728"/>
          </a:xfrm>
          <a:prstGeom prst="roundRect">
            <a:avLst/>
          </a:prstGeom>
          <a:solidFill>
            <a:srgbClr val="FDF6E7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26A00"/>
                </a:solidFill>
                <a:latin typeface="Segoe UI"/>
              </a:rPr>
              <a:t>Validation is visual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State lives in the field's styling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— an amber border — not in any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message text.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An invalid value triggers two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separate popups, both of which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must be handled.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D242B"/>
                </a:solidFill>
                <a:latin typeface="Segoe UI"/>
              </a:rPr>
              <a:t>Open gaps — worth knowing before you rely on it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Setting a cell doesn't yet auto-handle the two validation popups.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Text matching only sees visible text — icon-only buttons need an explicit selector.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• Some popups aren't caught by the standard dialog detectors.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F6D2F"/>
                </a:solidFill>
                <a:latin typeface="Segoe UI"/>
              </a:rPr>
              <a:t>WHY THE TOOLING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D242B"/>
                </a:solidFill>
                <a:latin typeface="Segoe UI"/>
              </a:rPr>
              <a:t>What this adds up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D8D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210312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Consistency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The method is written down, not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carried in someone's head.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Two people, same record → same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554480"/>
            <a:ext cx="3566160" cy="2103120"/>
          </a:xfrm>
          <a:prstGeom prst="roundRect">
            <a:avLst/>
          </a:prstGeom>
          <a:solidFill>
            <a:srgbClr val="EEF4E2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6D2F"/>
                </a:solidFill>
                <a:latin typeface="Segoe UI"/>
              </a:rPr>
              <a:t>Reuse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We assemble from a library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instead of inventing.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Fewer objects to build, test,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and validate.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554480"/>
            <a:ext cx="3557016" cy="2103120"/>
          </a:xfrm>
          <a:prstGeom prst="roundRect">
            <a:avLst/>
          </a:prstGeom>
          <a:solidFill>
            <a:srgbClr val="E8F1F6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7C9C"/>
                </a:solidFill>
                <a:latin typeface="Segoe UI"/>
              </a:rPr>
              <a:t>Evidence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Nothing is 'done' on assumption.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Functions are checked against the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system; steps are driven in the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2B"/>
                </a:solidFill>
                <a:latin typeface="Segoe UI"/>
              </a:rPr>
              <a:t>real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D242B"/>
                </a:solidFill>
                <a:latin typeface="Segoe UI"/>
              </a:rPr>
              <a:t>The through-line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F6B76"/>
                </a:solidFill>
                <a:latin typeface="Segoe UI"/>
              </a:rPr>
              <a:t>Each tool removes a class of error early: scanning catches missed data on paper, the spec catches wrong assumptions before the build, Puppeteer catches behaviour that only shows up in the real app.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D242B"/>
                </a:solidFill>
                <a:latin typeface="Segoe UI"/>
              </a:rPr>
              <a:t>The expensive mistakes are the ones found late. All three tools exist to find them sooner.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E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D242B"/>
                </a:solidFill>
                <a:latin typeface="Segoe U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B"/>
                </a:solidFill>
                <a:latin typeface="Segoe UI"/>
              </a:rPr>
              <a:t>1 · Batch Record Scanning — read the paper record, decide reuse vs new, draw the steps.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     Output: mock-ups + an assembled EBR sheet the client can compare against the old record.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D242B"/>
                </a:solidFill>
                <a:latin typeface="Segoe UI"/>
              </a:rPr>
              <a:t>2 · Functional / Technical Spec — turn each step into a build-ready design spec.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     Output: a 13-section .docx, including the function modules and pseudocode, built to the mock-up.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D242B"/>
                </a:solidFill>
                <a:latin typeface="Segoe UI"/>
              </a:rPr>
              <a:t>3 · EBR Puppeteer — drive the built step in the live app.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F6B76"/>
                </a:solidFill>
                <a:latin typeface="Segoe UI"/>
              </a:rPr>
              <a:t>     Output: evidence it behaves — and early warning where it doesn't.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F6D2F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